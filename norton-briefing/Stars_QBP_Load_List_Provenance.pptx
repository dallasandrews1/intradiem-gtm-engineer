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643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6D9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STARS QBP · WAVE 1 · DATA PROVENANCE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43891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Where the two Wave 1 load lists come from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9326880" y="310896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B6D9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 OF JUL 10 2026</a:t>
            </a:r>
            <a:endParaRPr lang="en-US" sz="9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7D6C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Clay workspace 1180800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6309360" cy="576072"/>
          </a:xfrm>
          <a:prstGeom prst="roundRect">
            <a:avLst>
              <a:gd name="adj" fmla="val 9524"/>
            </a:avLst>
          </a:prstGeom>
          <a:solidFill>
            <a:srgbClr val="16432C"/>
          </a:solidFill>
          <a:ln/>
          <a:effectLst>
            <a:outerShdw sx="100000" sy="100000" kx="0" ky="0" algn="bl" rotWithShape="0" blurRad="63500" dist="25400" dir="5400000">
              <a:srgbClr val="16432C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389888"/>
            <a:ext cx="1051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307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27632" y="1408176"/>
            <a:ext cx="50109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sub-4.0 MA contracts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D8E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 — CMS 2026 Star Ratings, public release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2098548"/>
            <a:ext cx="5577840" cy="576072"/>
          </a:xfrm>
          <a:prstGeom prst="roundRect">
            <a:avLst>
              <a:gd name="adj" fmla="val 9524"/>
            </a:avLst>
          </a:prstGeom>
          <a:solidFill>
            <a:srgbClr val="1F7340"/>
          </a:solidFill>
          <a:ln/>
          <a:effectLst>
            <a:outerShdw sx="100000" sy="100000" kx="0" ky="0" algn="bl" rotWithShape="0" blurRad="63500" dist="25400" dir="5400000">
              <a:srgbClr val="16432C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2688" y="2098548"/>
            <a:ext cx="1051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98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993392" y="2116836"/>
            <a:ext cx="42793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Tier A+B contracts · 32 parent orgs · $2,511M addressable (2028 window)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D8E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ICP TIERING — ranked on addr_2028 bonus dollars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188720" y="2807208"/>
            <a:ext cx="4846320" cy="576072"/>
          </a:xfrm>
          <a:prstGeom prst="roundRect">
            <a:avLst>
              <a:gd name="adj" fmla="val 9524"/>
            </a:avLst>
          </a:prstGeom>
          <a:solidFill>
            <a:srgbClr val="1F7340"/>
          </a:solidFill>
          <a:ln/>
          <a:effectLst>
            <a:outerShdw sx="100000" sy="100000" kx="0" ky="0" algn="bl" rotWithShape="0" blurRad="63500" dist="25400" dir="5400000">
              <a:srgbClr val="16432C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98448" y="2807208"/>
            <a:ext cx="1051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2359152" y="282549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new-logo-eligible parent orgs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D8E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minus 6 customer parents · Salesforce active-customer file (101 accts)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554480" y="3515868"/>
            <a:ext cx="4114800" cy="576072"/>
          </a:xfrm>
          <a:prstGeom prst="roundRect">
            <a:avLst>
              <a:gd name="adj" fmla="val 9524"/>
            </a:avLst>
          </a:prstGeom>
          <a:solidFill>
            <a:srgbClr val="1F7340"/>
          </a:solidFill>
          <a:ln/>
          <a:effectLst>
            <a:outerShdw sx="100000" sy="100000" kx="0" ky="0" algn="bl" rotWithShape="0" blurRad="63500" dist="25400" dir="5400000">
              <a:srgbClr val="16432C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64208" y="3515868"/>
            <a:ext cx="1051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137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2724912" y="3534156"/>
            <a:ext cx="28163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buying-committee contacts sourced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D8E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PERSONA 1+2 PULL — deduped vs 157 existing contacts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920240" y="4224528"/>
            <a:ext cx="3383280" cy="576072"/>
          </a:xfrm>
          <a:prstGeom prst="roundRect">
            <a:avLst>
              <a:gd name="adj" fmla="val 9524"/>
            </a:avLst>
          </a:prstGeom>
          <a:solidFill>
            <a:srgbClr val="25B56F"/>
          </a:solidFill>
          <a:ln/>
          <a:effectLst>
            <a:outerShdw sx="100000" sy="100000" kx="0" ky="0" algn="bl" rotWithShape="0" blurRad="63500" dist="25400" dir="5400000">
              <a:srgbClr val="16432C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29968" y="4224528"/>
            <a:ext cx="1051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39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3090672" y="4242816"/>
            <a:ext cx="2084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loadable contacts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D8E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NON-CUSTOMER · forgone QBP &gt; 0 · valid email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 rot="10800000">
            <a:off x="3465576" y="4878324"/>
            <a:ext cx="292608" cy="219456"/>
          </a:xfrm>
          <a:prstGeom prst="triangle">
            <a:avLst/>
          </a:prstGeom>
          <a:solidFill>
            <a:srgbClr val="25B56F"/>
          </a:solidFill>
          <a:ln/>
        </p:spPr>
      </p:sp>
      <p:sp>
        <p:nvSpPr>
          <p:cNvPr id="22" name="Shape 20"/>
          <p:cNvSpPr/>
          <p:nvPr/>
        </p:nvSpPr>
        <p:spPr>
          <a:xfrm>
            <a:off x="438912" y="5207508"/>
            <a:ext cx="3035808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9050">
            <a:solidFill>
              <a:srgbClr val="B6D94C"/>
            </a:solidFill>
            <a:prstDash val="solid"/>
          </a:ln>
          <a:effectLst>
            <a:outerShdw sx="100000" sy="100000" kx="0" ky="0" algn="bl" rotWithShape="0" blurRad="76200" dist="25400" dir="5400000">
              <a:srgbClr val="16432C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5216" y="531723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85216" y="58841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7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contacts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517904" y="535381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31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 1 — Stars / Quality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17904" y="5774436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7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15_Eligible_Load_List_Persona1_Jul10.csv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3749040" y="5207508"/>
            <a:ext cx="3035808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9050">
            <a:solidFill>
              <a:srgbClr val="B6D94C"/>
            </a:solidFill>
            <a:prstDash val="solid"/>
          </a:ln>
          <a:effectLst>
            <a:outerShdw sx="100000" sy="100000" kx="0" ky="0" algn="bl" rotWithShape="0" blurRad="76200" dist="25400" dir="5400000">
              <a:srgbClr val="16432C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895344" y="531723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3895344" y="58841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7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contacts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28032" y="535381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31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 2 — Finance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28032" y="5774436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7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15_Eligible_Load_List_Persona2_Jul10.csv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7452360" y="1389888"/>
            <a:ext cx="4251960" cy="230428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4DC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53528" y="152704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7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EACH ROW CARRIES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653528" y="186537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3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email_final  </a:t>
            </a:r>
            <a:pPr indent="0" marL="0">
              <a:buNone/>
            </a:pPr>
            <a:r>
              <a:rPr lang="en-US" sz="950" i="1" dirty="0">
                <a:solidFill>
                  <a:srgbClr val="3E4D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deliverable send address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653528" y="2144268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3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First Name  </a:t>
            </a:r>
            <a:pPr indent="0" marL="0">
              <a:buNone/>
            </a:pPr>
            <a:r>
              <a:rPr lang="en-US" sz="950" i="1" dirty="0">
                <a:solidFill>
                  <a:srgbClr val="3E4D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merge field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653528" y="242316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3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Company  </a:t>
            </a:r>
            <a:pPr indent="0" marL="0">
              <a:buNone/>
            </a:pPr>
            <a:r>
              <a:rPr lang="en-US" sz="950" i="1" dirty="0">
                <a:solidFill>
                  <a:srgbClr val="3E4D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parent org — the join key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653528" y="270205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3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Cliff-Edge Contracts  </a:t>
            </a:r>
            <a:pPr indent="0" marL="0">
              <a:buNone/>
            </a:pPr>
            <a:r>
              <a:rPr lang="en-US" sz="950" i="1" dirty="0">
                <a:solidFill>
                  <a:srgbClr val="3E4D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2026-cycle, from CMS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653528" y="2980944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3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Account Forgone QBP ($M)  </a:t>
            </a:r>
            <a:pPr indent="0" marL="0">
              <a:buNone/>
            </a:pPr>
            <a:r>
              <a:rPr lang="en-US" sz="950" i="1" dirty="0">
                <a:solidFill>
                  <a:srgbClr val="3E4D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bonus-money figure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653528" y="3278124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7A877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Intradiem metric on any row — every figure is the prospect's own public CMS math.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7452360" y="3749040"/>
            <a:ext cx="4251960" cy="2761488"/>
          </a:xfrm>
          <a:prstGeom prst="roundRect">
            <a:avLst>
              <a:gd name="adj" fmla="val 1987"/>
            </a:avLst>
          </a:prstGeom>
          <a:solidFill>
            <a:srgbClr val="F0F4ED"/>
          </a:solidFill>
          <a:ln w="12700">
            <a:solidFill>
              <a:srgbClr val="D4DCC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53528" y="38862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7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IT HOLDS UP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671816" y="4270248"/>
            <a:ext cx="109728" cy="109728"/>
          </a:xfrm>
          <a:prstGeom prst="ellipse">
            <a:avLst/>
          </a:prstGeom>
          <a:solidFill>
            <a:srgbClr val="25B56F"/>
          </a:solidFill>
          <a:ln/>
        </p:spPr>
      </p:sp>
      <p:sp>
        <p:nvSpPr>
          <p:cNvPr id="43" name="Text 41"/>
          <p:cNvSpPr/>
          <p:nvPr/>
        </p:nvSpPr>
        <p:spPr>
          <a:xfrm>
            <a:off x="7872984" y="4187952"/>
            <a:ext cx="3630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b="1" dirty="0">
                <a:solidFill>
                  <a:srgbClr val="15231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 source.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E4D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Universe is the CMS Star Ratings release; tiering ranks it by the bonus dollars addressable in the 2028 window.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7671816" y="5020056"/>
            <a:ext cx="109728" cy="109728"/>
          </a:xfrm>
          <a:prstGeom prst="ellipse">
            <a:avLst/>
          </a:prstGeom>
          <a:solidFill>
            <a:srgbClr val="25B56F"/>
          </a:solidFill>
          <a:ln/>
        </p:spPr>
      </p:sp>
      <p:sp>
        <p:nvSpPr>
          <p:cNvPr id="45" name="Text 43"/>
          <p:cNvSpPr/>
          <p:nvPr/>
        </p:nvSpPr>
        <p:spPr>
          <a:xfrm>
            <a:off x="7872984" y="4937760"/>
            <a:ext cx="3630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b="1" dirty="0">
                <a:solidFill>
                  <a:srgbClr val="15231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 customers, by construction.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E4D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Exclusion is sourced from Nate's Salesforce active-customer report (101 accounts) — 6 parents removed. Neither list contains a customer.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7671816" y="5769864"/>
            <a:ext cx="109728" cy="109728"/>
          </a:xfrm>
          <a:prstGeom prst="ellipse">
            <a:avLst/>
          </a:prstGeom>
          <a:solidFill>
            <a:srgbClr val="25B56F"/>
          </a:solidFill>
          <a:ln/>
        </p:spPr>
      </p:sp>
      <p:sp>
        <p:nvSpPr>
          <p:cNvPr id="47" name="Text 45"/>
          <p:cNvSpPr/>
          <p:nvPr/>
        </p:nvSpPr>
        <p:spPr>
          <a:xfrm>
            <a:off x="7872984" y="5687568"/>
            <a:ext cx="3630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b="1" dirty="0">
                <a:solidFill>
                  <a:srgbClr val="15231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Personas are Naveen's spec.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E4D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Stars/Quality and Finance mirror the two personas set for the Clay build. The Ops persona is held for a later wave, so 137 sourced becomes 39 loadable.</a:t>
            </a:r>
            <a:endParaRPr lang="en-US" sz="960" dirty="0"/>
          </a:p>
        </p:txBody>
      </p:sp>
      <p:sp>
        <p:nvSpPr>
          <p:cNvPr id="48" name="Text 46"/>
          <p:cNvSpPr/>
          <p:nvPr/>
        </p:nvSpPr>
        <p:spPr>
          <a:xfrm>
            <a:off x="502920" y="6547104"/>
            <a:ext cx="11155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40" dirty="0">
                <a:solidFill>
                  <a:srgbClr val="7A87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Provenance: CMS 2026 Star Ratings · StarRatings_Universe_2026_TimePhased.csv · Clay Contacts (Buying Committee), 137 rows · greenlight-pack/15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2026-07-11T20:47:41Z</dcterms:created>
  <dcterms:modified xsi:type="dcterms:W3CDTF">2026-07-11T20:47:41Z</dcterms:modified>
</cp:coreProperties>
</file>